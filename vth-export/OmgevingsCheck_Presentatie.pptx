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1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0"/>
            <a:ext cx="12188952" cy="109728"/>
          </a:xfrm>
          <a:prstGeom prst="rect">
            <a:avLst/>
          </a:prstGeom>
          <a:solidFill>
            <a:srgbClr val="C4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</a:rPr>
              <a:t>OmgevingsCheck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E8E8"/>
                </a:solidFill>
              </a:rPr>
              <a:t>Digitaal bouwtoezicht voor gemeente Waalre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CCCC"/>
                </a:solidFill>
              </a:rPr>
              <a:t>Ontwikkeld door: Christian Krielen  |  Afdeling VTH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AAAA"/>
                </a:solidFill>
              </a:rPr>
              <a:t>Presentatie t.b.v. management  —  2026</a:t>
            </a:r>
          </a:p>
        </p:txBody>
      </p:sp>
      <p:pic>
        <p:nvPicPr>
          <p:cNvPr id="9" name="Picture 8" descr="01_projectlij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3749039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DFF"/>
                </a:solidFill>
              </a:rPr>
              <a:t>🔒  Volledig offline  ·  📱  Tablet &amp; smartphone  ·  🏛️  AVG-compliant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8899"/>
                </a:solidFill>
              </a:rPr>
              <a:t>© 2026 Christian Krielen  —  Gemeente Waalre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Aanleiding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E8E8"/>
                </a:solidFill>
              </a:rPr>
              <a:t>Waarom is OmgevingsCheck ontwikkeld?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C4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BCC"/>
                </a:solidFill>
              </a:rPr>
              <a:t>OmgevingsCheck App  ·  Gemeente Waalre  ·  © 2026 Christian Krielen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6B6B"/>
                </a:solidFill>
              </a:rPr>
              <a:t>Het probleem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7451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3A"/>
                </a:solidFill>
              </a:rPr>
              <a:t>Toezichthouders werkten met papieren formulieren op locatie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7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4027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3A"/>
                </a:solidFill>
              </a:rPr>
              <a:t>Controleresultaten werden achteraf handmatig overgetypt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3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0603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3A"/>
                </a:solidFill>
              </a:rPr>
              <a:t>Foto's werden los opgeslagen, moeilijk te koppelen aan dossiers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7179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7179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3A"/>
                </a:solidFill>
              </a:rPr>
              <a:t>Geen eenvoudig overzicht van de status per bouwproject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3755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33755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3A"/>
                </a:solidFill>
              </a:rPr>
              <a:t>Rapportages kostten veel tijd en waren foutgevoelig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776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6B6B"/>
                </a:solidFill>
              </a:rPr>
              <a:t>De wens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434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43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3A"/>
                </a:solidFill>
              </a:rPr>
              <a:t>Eén digitaal hulpmiddel, altijd bij de hand op tablet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091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09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3A"/>
                </a:solidFill>
              </a:rPr>
              <a:t>Directe registratie op locatie, ook zonder internet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749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3A"/>
                </a:solidFill>
              </a:rPr>
              <a:t>Gestructureerde controles gekoppeld aan BBL-artikelen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406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406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3A"/>
                </a:solidFill>
              </a:rPr>
              <a:t>Snel en professioneel rapporteren</a:t>
            </a:r>
          </a:p>
        </p:txBody>
      </p:sp>
      <p:pic>
        <p:nvPicPr>
          <p:cNvPr id="29" name="Picture 28" descr="01_projectlij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17320"/>
            <a:ext cx="5029200" cy="108837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Wat is OmgevingsCheck?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E8E8"/>
                </a:solidFill>
              </a:rPr>
              <a:t>Een offline webapp voor gemeentelijk bouwtoezicht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C4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BCC"/>
                </a:solidFill>
              </a:rPr>
              <a:t>OmgevingsCheck App  ·  Gemeente Waalre  ·  © 2026 Christian Krielen</a:t>
            </a:r>
          </a:p>
        </p:txBody>
      </p:sp>
      <p:pic>
        <p:nvPicPr>
          <p:cNvPr id="9" name="Picture 8" descr="desktop_01_projectlij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1417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6B6B"/>
                </a:solidFill>
              </a:rPr>
              <a:t>Kernkenmerken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8288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828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Werkt 100% 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194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Draait in elke browser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5603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5603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Tablet &amp; smartphone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92607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92607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Geen installatie nodig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29183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29183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Data blijft lokaal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65759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65759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Koppeling PDOK / kadaster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02335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02335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Import uit zakensysteem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3891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3891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PDF/e-mail rapportage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Functionaliteiten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E8E8"/>
                </a:solidFill>
              </a:rPr>
              <a:t>Alles wat een toezichthouder nodig heeft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C4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BCC"/>
                </a:solidFill>
              </a:rPr>
              <a:t>OmgevingsCheck App  ·  Gemeente Waalre  ·  © 2026 Christian Krielen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39319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B6B6B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3A"/>
                </a:solidFill>
              </a:rPr>
              <a:t>Projectbeheer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4884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6E"/>
                </a:solidFill>
              </a:rPr>
              <a:t>Zaken aanmaken, bewerken
en filteren op 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463040"/>
            <a:ext cx="39319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B6B6B"/>
                </a:solidFill>
              </a:rPr>
              <a:t>🗺️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3A"/>
                </a:solidFill>
              </a:rPr>
              <a:t>Kaartweergave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14884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6E"/>
                </a:solidFill>
              </a:rPr>
              <a:t>Alle bouwprojecten op
interactieve kaart (PDOK)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463040"/>
            <a:ext cx="39319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B6B6B"/>
                </a:solidFill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3A"/>
                </a:solidFill>
              </a:rPr>
              <a:t>Controles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4884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6E"/>
                </a:solidFill>
              </a:rPr>
              <a:t>Gestructureerde controles
met BBL-artikelkoppeling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840480"/>
            <a:ext cx="39319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977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B6B6B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3A"/>
                </a:solidFill>
              </a:rPr>
              <a:t>Voortgang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52628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6E"/>
                </a:solidFill>
              </a:rPr>
              <a:t>Overzicht naleving van
vergunningvoorschriften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840480"/>
            <a:ext cx="39319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3977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B6B6B"/>
                </a:solidFill>
              </a:rPr>
              <a:t>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3A"/>
                </a:solidFill>
              </a:rPr>
              <a:t>XLS-import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52628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6E"/>
                </a:solidFill>
              </a:rPr>
              <a:t>Zaken direct importeren
uit het zakensysteem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3840480"/>
            <a:ext cx="39319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3977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B6B6B"/>
                </a:solidFill>
              </a:rPr>
              <a:t>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3A"/>
                </a:solidFill>
              </a:rPr>
              <a:t>Rapportage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52628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6E"/>
                </a:solidFill>
              </a:rPr>
              <a:t>Rapport per e-mail sturen
naar Outlook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Projectenoverzicht &amp; Kaart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E8E8"/>
                </a:solidFill>
              </a:rPr>
              <a:t>Filteren, zoeken en locaties visualiseren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C4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BCC"/>
                </a:solidFill>
              </a:rPr>
              <a:t>OmgevingsCheck App  ·  Gemeente Waalre  ·  © 2026 Christian Krielen</a:t>
            </a:r>
          </a:p>
        </p:txBody>
      </p:sp>
      <p:pic>
        <p:nvPicPr>
          <p:cNvPr id="9" name="Picture 8" descr="desktop_01_projectlij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17320"/>
            <a:ext cx="5852160" cy="3657600"/>
          </a:xfrm>
          <a:prstGeom prst="rect">
            <a:avLst/>
          </a:prstGeom>
        </p:spPr>
      </p:pic>
      <p:pic>
        <p:nvPicPr>
          <p:cNvPr id="10" name="Picture 9" descr="desktop_02_ka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806440" cy="3629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" y="6080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6E"/>
                </a:solidFill>
              </a:rPr>
              <a:t>← Lijst met filters op status / zaaktype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6080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6E"/>
                </a:solidFill>
              </a:rPr>
              <a:t>← Kaartweergave met gekleurde markers per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Projectdetail &amp; Controles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E8E8"/>
                </a:solidFill>
              </a:rPr>
              <a:t>Van basisgegevens tot controlerapport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C4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BCC"/>
                </a:solidFill>
              </a:rPr>
              <a:t>OmgevingsCheck App  ·  Gemeente Waalre  ·  © 2026 Christian Krielen</a:t>
            </a:r>
          </a:p>
        </p:txBody>
      </p:sp>
      <p:pic>
        <p:nvPicPr>
          <p:cNvPr id="9" name="Picture 8" descr="desktop_03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17320"/>
            <a:ext cx="3840480" cy="2400300"/>
          </a:xfrm>
          <a:prstGeom prst="rect">
            <a:avLst/>
          </a:prstGeom>
        </p:spPr>
      </p:pic>
      <p:pic>
        <p:nvPicPr>
          <p:cNvPr id="10" name="Picture 9" descr="desktop_04_contro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417320"/>
            <a:ext cx="3840480" cy="2400300"/>
          </a:xfrm>
          <a:prstGeom prst="rect">
            <a:avLst/>
          </a:prstGeom>
        </p:spPr>
      </p:pic>
      <p:pic>
        <p:nvPicPr>
          <p:cNvPr id="11" name="Picture 10" descr="desktop_05_voortg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17320"/>
            <a:ext cx="3840480" cy="2400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880" y="61081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6E"/>
                </a:solidFill>
              </a:rPr>
              <a:t>Basisgegevens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61081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6E"/>
                </a:solidFill>
              </a:rPr>
              <a:t>Controles per datum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61081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6E"/>
                </a:solidFill>
              </a:rPr>
              <a:t>Voortgang voorschriften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BBL-artikelkoppeling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E8E8"/>
                </a:solidFill>
              </a:rPr>
              <a:t>Controles gebaseerd op wettelijke grondslag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C4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BCC"/>
                </a:solidFill>
              </a:rPr>
              <a:t>OmgevingsCheck App  ·  Gemeente Waalre  ·  © 2026 Christian Krielen</a:t>
            </a:r>
          </a:p>
        </p:txBody>
      </p:sp>
      <p:pic>
        <p:nvPicPr>
          <p:cNvPr id="9" name="Picture 8" descr="09_controle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3200400" cy="69259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0480" y="15087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6B6B"/>
                </a:solidFill>
              </a:rPr>
              <a:t>Ingebouwde juridische bibliotheek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0574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057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352 artikelen uit het Besluit Bouwwerken Leefomgeving (BBL)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231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23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Hoofdstuk 3: Veiligheid bij brand + Gezondheid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7889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788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Hoofdstuk 4: Veiligheid, Gezondheid, Bouwwerkinstallaties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15467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15467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Elk controleonderwerp koppelt aan een specifiek BBL-artikel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52043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52043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Zoeken op artikelnummer, trefwoord of onderwerp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8862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886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Directe link naar officiële wetgeving (wetten.overheid.nl)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2519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251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Juridisch onderbouwde rapportages, klaar voor handhaving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126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6E"/>
                </a:solidFill>
              </a:rPr>
              <a:t>← Controledetail op tablet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Koppeling met het zakensysteem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E8E8"/>
                </a:solidFill>
              </a:rPr>
              <a:t>Zaken importeren via XLS-export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C4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BCC"/>
                </a:solidFill>
              </a:rPr>
              <a:t>OmgevingsCheck App  ·  Gemeente Waalre  ·  © 2026 Christian Krielen</a:t>
            </a:r>
          </a:p>
        </p:txBody>
      </p:sp>
      <p:pic>
        <p:nvPicPr>
          <p:cNvPr id="9" name="Picture 8" descr="desktop_06_xls_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17320"/>
            <a:ext cx="7132320" cy="4457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1508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6B6B"/>
                </a:solidFill>
              </a:rPr>
              <a:t>Hoe werkt het?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0116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0116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XLS-export uit zakensysteem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37744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377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Importeer in OmgevingsCheck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7432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743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Preview met checkboxes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1089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108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Duplicaatdetectie automatisch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4747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4747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Adressen geocodeerd via PDOK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8404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Direct zichtbaar op kaart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61264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6E"/>
                </a:solidFill>
              </a:rPr>
              <a:t>← Importscherm met preview en selectie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AVG &amp;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E8E8"/>
                </a:solidFill>
              </a:rPr>
              <a:t>Offline-first architectuur beschermt persoonsgegevens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C4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BCC"/>
                </a:solidFill>
              </a:rPr>
              <a:t>OmgevingsCheck App  ·  Gemeente Waalre  ·  © 2026 Christian Krielen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5486400" cy="44805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6B6B"/>
                </a:solidFill>
              </a:rPr>
              <a:t>🔒  Blijft lokaal op het apparaat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Projectgegevens (naam, adres, status)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Controleverslagen en bevindingen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889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88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Foto's van de bouwplaats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7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5467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Vergunningsdocumenten (PDF)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2043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2043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Alle gebruikersinstellingen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622D"/>
                </a:solidFill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</a:rPr>
              <a:t>Backup-bestanden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463040"/>
            <a:ext cx="5760720" cy="44805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622D"/>
                </a:solidFill>
              </a:rPr>
              <a:t>🌐  Externe diensten (functioneel)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0574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3A"/>
                </a:solidFill>
              </a:rPr>
              <a:t>▸  Kaartafbeeldingen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6E"/>
                </a:solidFill>
              </a:rPr>
              <a:t>OpenStreetMap tiles
(geen persoonsdata)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6243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3A"/>
                </a:solidFill>
              </a:rPr>
              <a:t>▸  Adresgeocodering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2624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6E"/>
                </a:solidFill>
              </a:rPr>
              <a:t>PDOK Locatieserver
(alleen adres, geen naam)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1912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3A"/>
                </a:solidFill>
              </a:rPr>
              <a:t>▸  Kaartweergave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31912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6E"/>
                </a:solidFill>
              </a:rPr>
              <a:t>Leaflet.js bibliotheek
(software, geen data)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75818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3A"/>
                </a:solidFill>
              </a:rPr>
              <a:t>▸  E-mail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37581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6E"/>
                </a:solidFill>
              </a:rPr>
              <a:t>Via Outlook op tablet
(gebruiker verstuurt zelf)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0350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6B6B"/>
                </a:solidFill>
              </a:rPr>
              <a:t>✅  Alle persoonsgebonden projectdata verlaat nooit het apparaat — volledig AVG-compliant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Efficiency &amp; Tijdwinst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E8E8"/>
                </a:solidFill>
              </a:rPr>
              <a:t>Minder administratie, meer toezicht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C4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BCC"/>
                </a:solidFill>
              </a:rPr>
              <a:t>OmgevingsCheck App  ·  Gemeente Waalre  ·  © 2026 Christian Krielen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3749039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45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3A"/>
                </a:solidFill>
              </a:rPr>
              <a:t>Rapportage opstellen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3383280" cy="1463040"/>
          </a:xfrm>
          <a:prstGeom prst="rect">
            <a:avLst/>
          </a:prstGeom>
          <a:solidFill>
            <a:srgbClr val="FF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622D"/>
                </a:solidFill>
              </a:rPr>
              <a:t>❌  Vroeger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97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6E"/>
                </a:solidFill>
              </a:rPr>
              <a:t>Handmatig typen:
30–60 minuten per controle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3383280" cy="1645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77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6B6B"/>
                </a:solidFill>
              </a:rPr>
              <a:t>✅  Nu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33A"/>
                </a:solidFill>
              </a:rPr>
              <a:t>OmgevingsCheck:
5 minuten, direct verzenden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463040"/>
            <a:ext cx="3749039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645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3A"/>
                </a:solidFill>
              </a:rPr>
              <a:t>Dossierbeheer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331720"/>
            <a:ext cx="3383280" cy="1463040"/>
          </a:xfrm>
          <a:prstGeom prst="rect">
            <a:avLst/>
          </a:prstGeom>
          <a:solidFill>
            <a:srgbClr val="FF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622D"/>
                </a:solidFill>
              </a:rPr>
              <a:t>❌  Vroeger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2697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6E"/>
                </a:solidFill>
              </a:rPr>
              <a:t>Papier + losse bestanden:
moeilijk doorzoekbaar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931920"/>
            <a:ext cx="3383280" cy="1645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3977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6B6B"/>
                </a:solidFill>
              </a:rPr>
              <a:t>✅  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2976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33A"/>
                </a:solidFill>
              </a:rPr>
              <a:t>Alles digitaal gekoppeld:
in 2 tikken gevonden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463040"/>
            <a:ext cx="3749039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1645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3A"/>
                </a:solidFill>
              </a:rPr>
              <a:t>Locatie opzoeken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2331720"/>
            <a:ext cx="3383280" cy="1463040"/>
          </a:xfrm>
          <a:prstGeom prst="rect">
            <a:avLst/>
          </a:prstGeom>
          <a:solidFill>
            <a:srgbClr val="FF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622D"/>
                </a:solidFill>
              </a:rPr>
              <a:t>❌  Vroeger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697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6E"/>
                </a:solidFill>
              </a:rPr>
              <a:t>Kaart raadplegen of
bellen voor adres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3931920"/>
            <a:ext cx="3383280" cy="1645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3977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6B6B"/>
                </a:solidFill>
              </a:rPr>
              <a:t>✅  Nu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2976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33A"/>
                </a:solidFill>
              </a:rPr>
              <a:t>PDOK geocodering:
automatisch op de kaart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Kansen &amp; Toekomst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E8E8"/>
                </a:solidFill>
              </a:rPr>
              <a:t>Doorontwikkeling en bredere inzet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C4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BCC"/>
                </a:solidFill>
              </a:rPr>
              <a:t>OmgevingsCheck App  ·  Gemeente Waalre  ·  © 2026 Christian Krielen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508760"/>
            <a:ext cx="5669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64591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🏛️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673351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6B6B"/>
                </a:solidFill>
              </a:rPr>
              <a:t>Andere gemeenten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7568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6E"/>
                </a:solidFill>
              </a:rPr>
              <a:t>OmgevingsCheck is generiek inzetbaar voor elke VTH-organisatie in Nederland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5669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1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673351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6B6B"/>
                </a:solidFill>
              </a:rPr>
              <a:t>Meerdere inspecteurs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07568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6E"/>
                </a:solidFill>
              </a:rPr>
              <a:t>Uitbreiding naar teamgebruik met gedeelde projectdossiers via een centrale server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063239"/>
            <a:ext cx="5669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20039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22783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6B6B"/>
                </a:solidFill>
              </a:rPr>
              <a:t>Systeemkoppeling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3016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6E"/>
                </a:solidFill>
              </a:rPr>
              <a:t>Directe API-koppeling met zakensysteem (bijv. Rx.Mission) voor automatische sync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063239"/>
            <a:ext cx="5669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20039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22783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6B6B"/>
                </a:solidFill>
              </a:rPr>
              <a:t>Native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63016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6E"/>
                </a:solidFill>
              </a:rPr>
              <a:t>Verpakken als Progressive Web App (PWA) of native iOS/Android-app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4617720"/>
            <a:ext cx="5669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754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78231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6B6B"/>
                </a:solidFill>
              </a:rPr>
              <a:t>Slimme controles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8464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6E"/>
                </a:solidFill>
              </a:rPr>
              <a:t>AI-ondersteuning bij het bepalen relevante BBL-artikelen o.b.v. vergunningstype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617720"/>
            <a:ext cx="5669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754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78231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6B6B"/>
                </a:solidFill>
              </a:rPr>
              <a:t>Managementrapportage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18464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6E"/>
                </a:solidFill>
              </a:rPr>
              <a:t>Dashboards met statistieken: doorlooptijden, hercontroles, naleving per wijk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1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88952" cy="91440"/>
          </a:xfrm>
          <a:prstGeom prst="rect">
            <a:avLst/>
          </a:prstGeom>
          <a:solidFill>
            <a:srgbClr val="C4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Samenvatting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E8E8"/>
                </a:solidFill>
              </a:rPr>
              <a:t>OmgevingsCheck is klaar voor dagelijks gebruik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✅  Volledig werkende offline webapp voor VTH bouwtoezicht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414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✅  352 BBL-artikelen (H3 + H4) ingebouwd als juridische bibliotheek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549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✅  Kaartweergave met PDOK-geocodering voor alle bouwprojecten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95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✅  XLS-import direct vanuit het zakensysteem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9359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✅  Rapportage via e-mail (Outlook) met één druk op de knop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763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✅  Volledig AVG-compliant — persoonsdata verlaat het apparaat nooit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616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✅  Backup &amp; herstel inclusief foto's en documenten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303520"/>
            <a:ext cx="5029200" cy="1234440"/>
          </a:xfrm>
          <a:prstGeom prst="rect">
            <a:avLst/>
          </a:prstGeom>
          <a:solidFill>
            <a:srgbClr val="22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22D"/>
                </a:solidFill>
              </a:rPr>
              <a:t>📬  Volgende stap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Formele ingebruikname + evaluatie na 3 maanden
Eventuele aansluiting andere inspecteurs bespreken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5303520"/>
            <a:ext cx="5577840" cy="1234440"/>
          </a:xfrm>
          <a:prstGeom prst="rect">
            <a:avLst/>
          </a:prstGeom>
          <a:solidFill>
            <a:srgbClr val="22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5349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22D"/>
                </a:solidFill>
              </a:rPr>
              <a:t>💬  Vragen?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7150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Christian Krielen
ckrielen@waalre.nl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8899"/>
                </a:solidFill>
              </a:rPr>
              <a:t>© 2026 Christian Krielen  —  Gemeente Waalre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